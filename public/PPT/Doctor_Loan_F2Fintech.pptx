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1097280"/>
            <a:ext cx="2834640" cy="2834640"/>
          </a:xfrm>
          <a:prstGeom prst="ellipse">
            <a:avLst/>
          </a:prstGeom>
          <a:noFill/>
          <a:ln w="19050">
            <a:solidFill>
              <a:srgbClr val="2B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59368" y="1298448"/>
            <a:ext cx="2240280" cy="2240280"/>
          </a:xfrm>
          <a:prstGeom prst="ellipse">
            <a:avLst/>
          </a:prstGeom>
          <a:noFill/>
          <a:ln w="19050">
            <a:solidFill>
              <a:srgbClr val="2B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0536" y="1499616"/>
            <a:ext cx="1645920" cy="1645920"/>
          </a:xfrm>
          <a:prstGeom prst="ellipse">
            <a:avLst/>
          </a:prstGeom>
          <a:noFill/>
          <a:ln w="19050">
            <a:solidFill>
              <a:srgbClr val="2B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41148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E8B538"/>
                </a:solidFill>
                <a:latin typeface="Aptos"/>
              </a:rPr>
              <a:t>F2FINTECH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5029200" cy="2560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PROFESSIONAL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6858000" cy="9601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Doctor Loan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08960"/>
            <a:ext cx="6217920" cy="8229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800" b="0">
                <a:solidFill>
                  <a:srgbClr val="DCE5F5"/>
                </a:solidFill>
                <a:latin typeface="Aptos"/>
              </a:rPr>
              <a:t>Finance for medical professionals and practices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20640"/>
            <a:ext cx="59436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LOAN OVERVIEW  •  SAMPLE /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172200"/>
            <a:ext cx="1042416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900" b="0">
                <a:solidFill>
                  <a:srgbClr val="BECADE"/>
                </a:solidFill>
                <a:latin typeface="Aptos"/>
              </a:rPr>
              <a:t>Illustrative information only. Eligibility and terms depend on the lender.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PROFESSIONAL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Introducing Doctor Loan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Finance for medical professionals and practices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WHO IT MAY SUIT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Eligible doctors, clinics and healthcare practitioners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COMMON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Potentially fund clinic setup, medical equipment, practice expansion or professional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Compare options carefully and choose a repayment plan that suits your circumstances.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700" b="1">
                <a:solidFill>
                  <a:srgbClr val="0D1B36"/>
                </a:solidFill>
                <a:latin typeface="Aptos"/>
              </a:rPr>
              <a:t>A clear overview to help applicants understand the journey before they apply.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2B53B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What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Product features and availability depend on the participating lender.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03704"/>
            <a:ext cx="457200" cy="45720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Options for eligible medical professionals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72968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319272"/>
            <a:ext cx="457200" cy="45720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01568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55848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Funding purpose depends on lender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88536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434840"/>
            <a:ext cx="457200" cy="45720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17136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71416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Personal or practice needs where permitted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69280"/>
            <a:ext cx="105156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Aptos"/>
              </a:rPr>
              <a:t>Always review the applicable lender disclosures before accepting an offer.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2B53B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APPLICATION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From enquiry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 typical flow; exact steps vary by lender and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9888" y="2724912"/>
            <a:ext cx="548640" cy="54864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Identify the funding need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94176" y="2724912"/>
            <a:ext cx="548640" cy="54864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Check lender criteria for doctors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94376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98464" y="2724912"/>
            <a:ext cx="548640" cy="54864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Prepare qualification and income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2724912"/>
            <a:ext cx="548640" cy="54864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Submit details for lender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2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0" y="2724912"/>
            <a:ext cx="548640" cy="54864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256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Evaluate cost, tenure and repayment terms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Approval is subject to lender assessment, verification and applicable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2B53B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PREPARATION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Documents applicants may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The final checklist is set by the lender and the applicant's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120640" cy="3246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PAN and KYC documents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Medical qualification / registration proof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Income proof and bank statements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Clinic or practice documents if applicable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4572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13432"/>
            <a:ext cx="420624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BEFORE YOU 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15768"/>
            <a:ext cx="4206240" cy="164591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Keep information accurate and up to date. Submit documents only through official, secure channels.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800600"/>
            <a:ext cx="4297680" cy="6400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1">
                <a:solidFill>
                  <a:srgbClr val="0D1B36"/>
                </a:solidFill>
                <a:latin typeface="Aptos"/>
              </a:rPr>
              <a:t>Do not share OTPs, passwords or banking PINs with anyone.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2B53B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MAKE AN INFORMED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Compare the full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Do not choose a loan on interest rate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84632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CHECK THESE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4846320" cy="1737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• Professional eligibility rules
• Practice vintage and income assessment
• Interest rate, fees and tenure
• Collateral or guarantor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67712"/>
            <a:ext cx="484632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BORROW RESPONSIBLY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70048"/>
            <a:ext cx="4846320" cy="1737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Select a structure that supports your practice without straining personal finances.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F2Fintech sample presentation • Availability, eligibility, rates, fees and approval are determined by the relevant lender.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2B53B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