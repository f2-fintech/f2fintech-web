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097280"/>
            <a:ext cx="2834640" cy="2834640"/>
          </a:xfrm>
          <a:prstGeom prst="ellipse">
            <a:avLst/>
          </a:prstGeom>
          <a:noFill/>
          <a:ln w="19050">
            <a:solidFill>
              <a:srgbClr val="E8B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59368" y="1298448"/>
            <a:ext cx="2240280" cy="2240280"/>
          </a:xfrm>
          <a:prstGeom prst="ellipse">
            <a:avLst/>
          </a:prstGeom>
          <a:noFill/>
          <a:ln w="19050">
            <a:solidFill>
              <a:srgbClr val="E8B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0536" y="1499616"/>
            <a:ext cx="1645920" cy="1645920"/>
          </a:xfrm>
          <a:prstGeom prst="ellipse">
            <a:avLst/>
          </a:prstGeom>
          <a:noFill/>
          <a:ln w="19050">
            <a:solidFill>
              <a:srgbClr val="E8B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41148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E8B538"/>
                </a:solidFill>
                <a:latin typeface="Aptos"/>
              </a:rPr>
              <a:t>F2FINTECH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5029200" cy="2560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BUSINESS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6858000" cy="9601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Business Loan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621792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800" b="0">
                <a:solidFill>
                  <a:srgbClr val="DCE5F5"/>
                </a:solidFill>
                <a:latin typeface="Aptos"/>
              </a:rPr>
              <a:t>Funding ideas, operations and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20640"/>
            <a:ext cx="59436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LOAN OVERVIEW  •  SAMPLE /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72200"/>
            <a:ext cx="1042416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900" b="0">
                <a:solidFill>
                  <a:srgbClr val="BECADE"/>
                </a:solidFill>
                <a:latin typeface="Aptos"/>
              </a:rPr>
              <a:t>Illustrative information only. Eligibility and terms depend on the lender.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BUSINESS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Introducing Business 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Funding ideas, operations and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WHO IT MAY SUIT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Eligible entrepreneurs, proprietors and registered businesses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COMMON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Support working capital, inventory, equipment, expansion or business cash-flow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214884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13432"/>
            <a:ext cx="310896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715768"/>
            <a:ext cx="3108960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Compare options carefully and choose a repayment plan that suits your circumstances.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700" b="1">
                <a:solidFill>
                  <a:srgbClr val="0D1B36"/>
                </a:solidFill>
                <a:latin typeface="Aptos"/>
              </a:rPr>
              <a:t>A clear overview to help applicants understand the journey before they apply.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What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Product features and availability depend on the participating lender.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03704"/>
            <a:ext cx="457200" cy="45720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Options based on business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2968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319272"/>
            <a:ext cx="457200" cy="45720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01568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55848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Potential use for eligible business expenses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88536"/>
            <a:ext cx="10561320" cy="786384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17136"/>
            <a:ext cx="4572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71416"/>
            <a:ext cx="905256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500" b="1">
                <a:solidFill>
                  <a:srgbClr val="212B3C"/>
                </a:solidFill>
                <a:latin typeface="Aptos"/>
              </a:rPr>
              <a:t>Requirements vary by lender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Aptos"/>
              </a:rPr>
              <a:t>Always review the applicable lender disclosures before accepting an offer.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APPLICATION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From enquiry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 typical flow; exact steps vary by lender and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Define funding purpose and amount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4176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Review business vintage and cash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94376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98464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Collect business and financial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Submit application for lender 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24688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0" y="2724912"/>
            <a:ext cx="548640" cy="548640"/>
          </a:xfrm>
          <a:prstGeom prst="ellipse">
            <a:avLst/>
          </a:prstGeom>
          <a:solidFill>
            <a:srgbClr val="E8B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2852928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256" y="3520440"/>
            <a:ext cx="1673352" cy="71323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/>
            <a:r>
              <a:rPr sz="1000" b="1">
                <a:solidFill>
                  <a:srgbClr val="212B3C"/>
                </a:solidFill>
                <a:latin typeface="Aptos"/>
              </a:rPr>
              <a:t>Compare offer terms and repayment obligations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Approval is subject to lender assessment, verification and applicable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PREPARATION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Documents applicants may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The final checklist is set by the lender and the applicant's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120640" cy="3246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PAN and KYC documents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Business registration / proof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Bank statements</a:t>
            </a:r>
          </a:p>
          <a:p>
            <a:pPr>
              <a:spcAft>
                <a:spcPts val="1500"/>
              </a:spcAft>
              <a:defRPr sz="1600">
                <a:solidFill>
                  <a:srgbClr val="212B3C"/>
                </a:solidFill>
                <a:latin typeface="Aptos"/>
              </a:defRPr>
            </a:pPr>
            <a:r>
              <a:t>•  Financial statements, ITR or GST records if applicable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572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13432"/>
            <a:ext cx="420624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BEFORE YOU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15768"/>
            <a:ext cx="4206240" cy="164591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Keep information accurate and up to date. Submit documents only through official, secure channels.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00600"/>
            <a:ext cx="429768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1">
                <a:solidFill>
                  <a:srgbClr val="0D1B36"/>
                </a:solidFill>
                <a:latin typeface="Aptos"/>
              </a:rPr>
              <a:t>Do not share OTPs, passwords or banking PINs with anyone.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804672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1">
                <a:solidFill>
                  <a:srgbClr val="E8B538"/>
                </a:solidFill>
                <a:latin typeface="Aptos"/>
              </a:rPr>
              <a:t>MAKE AN INFORMED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789920" cy="5669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2900" b="1">
                <a:solidFill>
                  <a:srgbClr val="0D1B36"/>
                </a:solidFill>
                <a:latin typeface="Aptos"/>
              </a:rPr>
              <a:t>Compare the full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515600" cy="43891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300" b="0">
                <a:solidFill>
                  <a:srgbClr val="65748B"/>
                </a:solidFill>
                <a:latin typeface="Aptos"/>
              </a:rPr>
              <a:t>Do not choose a loan on interest rate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CHECK THESE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• Total repayment and effective cost
• Turnover and vintage criteria
• Collateral or guarantee requirements
• Repayment frequency and 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67712"/>
            <a:ext cx="4846320" cy="310896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400" b="1">
                <a:solidFill>
                  <a:srgbClr val="E8B538"/>
                </a:solidFill>
                <a:latin typeface="Aptos"/>
              </a:rPr>
              <a:t>BORROW RESPONSIBLY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70048"/>
            <a:ext cx="4846320" cy="1737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100" b="0">
                <a:solidFill>
                  <a:srgbClr val="212B3C"/>
                </a:solidFill>
                <a:latin typeface="Aptos"/>
              </a:rPr>
              <a:t>Borrow against a realistic cash-flow plan and a clear business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F2Fintech sample presentation • Availability, eligibility, rates, fees and approval are determined by the relevant lender.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l"/>
            <a:r>
              <a:rPr sz="800" b="1">
                <a:solidFill>
                  <a:srgbClr val="65748B"/>
                </a:solidFill>
                <a:latin typeface="Aptos"/>
              </a:rPr>
              <a:t>F2FINTECH  |  SAMPLE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r"/>
            <a:r>
              <a:rPr sz="900" b="1">
                <a:solidFill>
                  <a:srgbClr val="E8B53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