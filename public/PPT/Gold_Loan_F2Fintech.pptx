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58200" y="1097280"/>
            <a:ext cx="2834640" cy="2834640"/>
          </a:xfrm>
          <a:prstGeom prst="ellipse">
            <a:avLst/>
          </a:prstGeom>
          <a:noFill/>
          <a:ln w="19050">
            <a:solidFill>
              <a:srgbClr val="E8B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59368" y="1298448"/>
            <a:ext cx="2240280" cy="2240280"/>
          </a:xfrm>
          <a:prstGeom prst="ellipse">
            <a:avLst/>
          </a:prstGeom>
          <a:noFill/>
          <a:ln w="19050">
            <a:solidFill>
              <a:srgbClr val="E8B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0536" y="1499616"/>
            <a:ext cx="1645920" cy="1645920"/>
          </a:xfrm>
          <a:prstGeom prst="ellipse">
            <a:avLst/>
          </a:prstGeom>
          <a:noFill/>
          <a:ln w="19050">
            <a:solidFill>
              <a:srgbClr val="E8B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4114800" cy="3200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500" b="1">
                <a:solidFill>
                  <a:srgbClr val="E8B538"/>
                </a:solidFill>
                <a:latin typeface="Aptos"/>
              </a:rPr>
              <a:t>F2FINTECH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72768"/>
            <a:ext cx="5029200" cy="25603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000" b="1">
                <a:solidFill>
                  <a:srgbClr val="E8B538"/>
                </a:solidFill>
                <a:latin typeface="Aptos"/>
              </a:rPr>
              <a:t>SECURED FINANCE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965960"/>
            <a:ext cx="6858000" cy="9601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Gold Loan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08960"/>
            <a:ext cx="6217920" cy="8229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800" b="0">
                <a:solidFill>
                  <a:srgbClr val="DCE5F5"/>
                </a:solidFill>
                <a:latin typeface="Aptos"/>
              </a:rPr>
              <a:t>Understand borrowing against eligible gold assets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120640"/>
            <a:ext cx="5943600" cy="2743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000" b="1">
                <a:solidFill>
                  <a:srgbClr val="E8B538"/>
                </a:solidFill>
                <a:latin typeface="Aptos"/>
              </a:rPr>
              <a:t>LOAN OVERVIEW  •  SAMPLE /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6172200"/>
            <a:ext cx="1042416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900" b="0">
                <a:solidFill>
                  <a:srgbClr val="BECADE"/>
                </a:solidFill>
                <a:latin typeface="Aptos"/>
              </a:rPr>
              <a:t>Illustrative information only. Eligibility and terms depend on the lender.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804672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000" b="1">
                <a:solidFill>
                  <a:srgbClr val="E8B538"/>
                </a:solidFill>
                <a:latin typeface="Aptos"/>
              </a:rPr>
              <a:t>SECURED 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789920" cy="56692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2900" b="1">
                <a:solidFill>
                  <a:srgbClr val="0D1B36"/>
                </a:solidFill>
                <a:latin typeface="Aptos"/>
              </a:rPr>
              <a:t>Introducing Gold Loan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515600" cy="43891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300" b="0">
                <a:solidFill>
                  <a:srgbClr val="65748B"/>
                </a:solidFill>
                <a:latin typeface="Aptos"/>
              </a:rPr>
              <a:t>Understand borrowing against eligible gold assets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13432"/>
            <a:ext cx="3108960" cy="310896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400" b="1">
                <a:solidFill>
                  <a:srgbClr val="E8B538"/>
                </a:solidFill>
                <a:latin typeface="Aptos"/>
              </a:rPr>
              <a:t>WHO IT MAY SUIT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15768"/>
            <a:ext cx="3108960" cy="14630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100" b="0">
                <a:solidFill>
                  <a:srgbClr val="212B3C"/>
                </a:solidFill>
                <a:latin typeface="Aptos"/>
              </a:rPr>
              <a:t>Applicants who own eligible gold jewellery accepted by a lender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148840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2313432"/>
            <a:ext cx="3108960" cy="310896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400" b="1">
                <a:solidFill>
                  <a:srgbClr val="E8B538"/>
                </a:solidFill>
                <a:latin typeface="Aptos"/>
              </a:rPr>
              <a:t>COMMON NEED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715768"/>
            <a:ext cx="3108960" cy="14630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100" b="0">
                <a:solidFill>
                  <a:srgbClr val="212B3C"/>
                </a:solidFill>
                <a:latin typeface="Aptos"/>
              </a:rPr>
              <a:t>Access a secured loan against eligible gold, subject to valuation and lender policy.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5864" y="2148840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8744" y="2313432"/>
            <a:ext cx="3108960" cy="310896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400" b="1">
                <a:solidFill>
                  <a:srgbClr val="E8B538"/>
                </a:solidFill>
                <a:latin typeface="Aptos"/>
              </a:rPr>
              <a:t>KEY IDEA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2715768"/>
            <a:ext cx="3108960" cy="14630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100" b="0">
                <a:solidFill>
                  <a:srgbClr val="212B3C"/>
                </a:solidFill>
                <a:latin typeface="Aptos"/>
              </a:rPr>
              <a:t>Compare options carefully and choose a repayment plan that suits your circumstances.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92040"/>
            <a:ext cx="10515600" cy="4572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700" b="1">
                <a:solidFill>
                  <a:srgbClr val="0D1B36"/>
                </a:solidFill>
                <a:latin typeface="Aptos"/>
              </a:rPr>
              <a:t>A clear overview to help applicants understand the journey before they apply.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800" b="1">
                <a:solidFill>
                  <a:srgbClr val="65748B"/>
                </a:solidFill>
                <a:latin typeface="Aptos"/>
              </a:rPr>
              <a:t>F2FINTECH  |  SAMPLE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r"/>
            <a:r>
              <a:rPr sz="900" b="1">
                <a:solidFill>
                  <a:srgbClr val="E8B538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804672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000" b="1">
                <a:solidFill>
                  <a:srgbClr val="E8B538"/>
                </a:solidFill>
                <a:latin typeface="Aptos"/>
              </a:rPr>
              <a:t>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789920" cy="56692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2900" b="1">
                <a:solidFill>
                  <a:srgbClr val="0D1B36"/>
                </a:solidFill>
                <a:latin typeface="Aptos"/>
              </a:rPr>
              <a:t>What to know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515600" cy="43891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300" b="0">
                <a:solidFill>
                  <a:srgbClr val="65748B"/>
                </a:solidFill>
                <a:latin typeface="Aptos"/>
              </a:rPr>
              <a:t>Product features and availability depend on the participating lender.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57400"/>
            <a:ext cx="10561320" cy="786384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203704"/>
            <a:ext cx="457200" cy="457200"/>
          </a:xfrm>
          <a:prstGeom prst="ellipse">
            <a:avLst/>
          </a:prstGeom>
          <a:solidFill>
            <a:srgbClr val="E8B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86000"/>
            <a:ext cx="4572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240280"/>
            <a:ext cx="9052560" cy="3657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500" b="1">
                <a:solidFill>
                  <a:srgbClr val="212B3C"/>
                </a:solidFill>
                <a:latin typeface="Aptos"/>
              </a:rPr>
              <a:t>Loan amount linked to assessed gold value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72968"/>
            <a:ext cx="10561320" cy="786384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3319272"/>
            <a:ext cx="457200" cy="457200"/>
          </a:xfrm>
          <a:prstGeom prst="ellipse">
            <a:avLst/>
          </a:prstGeom>
          <a:solidFill>
            <a:srgbClr val="E8B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401568"/>
            <a:ext cx="4572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355848"/>
            <a:ext cx="9052560" cy="3657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500" b="1">
                <a:solidFill>
                  <a:srgbClr val="212B3C"/>
                </a:solidFill>
                <a:latin typeface="Aptos"/>
              </a:rPr>
              <a:t>Purity and eligibility checks apply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288536"/>
            <a:ext cx="10561320" cy="786384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4434840"/>
            <a:ext cx="457200" cy="457200"/>
          </a:xfrm>
          <a:prstGeom prst="ellipse">
            <a:avLst/>
          </a:prstGeom>
          <a:solidFill>
            <a:srgbClr val="E8B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517136"/>
            <a:ext cx="4572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471416"/>
            <a:ext cx="9052560" cy="3657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500" b="1">
                <a:solidFill>
                  <a:srgbClr val="212B3C"/>
                </a:solidFill>
                <a:latin typeface="Aptos"/>
              </a:rPr>
              <a:t>Secured borrowing with pledged gold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669280"/>
            <a:ext cx="10515600" cy="3200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200" b="0">
                <a:solidFill>
                  <a:srgbClr val="65748B"/>
                </a:solidFill>
                <a:latin typeface="Aptos"/>
              </a:rPr>
              <a:t>Always review the applicable lender disclosures before accepting an offer.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800" b="1">
                <a:solidFill>
                  <a:srgbClr val="65748B"/>
                </a:solidFill>
                <a:latin typeface="Aptos"/>
              </a:rPr>
              <a:t>F2FINTECH  |  SAMPLE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r"/>
            <a:r>
              <a:rPr sz="900" b="1">
                <a:solidFill>
                  <a:srgbClr val="E8B538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804672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000" b="1">
                <a:solidFill>
                  <a:srgbClr val="E8B538"/>
                </a:solidFill>
                <a:latin typeface="Aptos"/>
              </a:rPr>
              <a:t>APPLICATION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789920" cy="56692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2900" b="1">
                <a:solidFill>
                  <a:srgbClr val="0D1B36"/>
                </a:solidFill>
                <a:latin typeface="Aptos"/>
              </a:rPr>
              <a:t>From enquiry to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515600" cy="43891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300" b="0">
                <a:solidFill>
                  <a:srgbClr val="65748B"/>
                </a:solidFill>
                <a:latin typeface="Aptos"/>
              </a:rPr>
              <a:t>A typical flow; exact steps vary by lender and product.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6888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89888" y="2724912"/>
            <a:ext cx="548640" cy="548640"/>
          </a:xfrm>
          <a:prstGeom prst="ellipse">
            <a:avLst/>
          </a:prstGeom>
          <a:solidFill>
            <a:srgbClr val="E8B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89888" y="2852928"/>
            <a:ext cx="54864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3520440"/>
            <a:ext cx="1673352" cy="71323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000" b="1">
                <a:solidFill>
                  <a:srgbClr val="212B3C"/>
                </a:solidFill>
                <a:latin typeface="Aptos"/>
              </a:rPr>
              <a:t>Check accepted gold items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0088" y="246888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94176" y="2724912"/>
            <a:ext cx="548640" cy="548640"/>
          </a:xfrm>
          <a:prstGeom prst="ellipse">
            <a:avLst/>
          </a:prstGeom>
          <a:solidFill>
            <a:srgbClr val="E8B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94176" y="2852928"/>
            <a:ext cx="54864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3520440"/>
            <a:ext cx="1673352" cy="71323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000" b="1">
                <a:solidFill>
                  <a:srgbClr val="212B3C"/>
                </a:solidFill>
                <a:latin typeface="Aptos"/>
              </a:rPr>
              <a:t>Submit KYC and gold for appraisal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94376" y="246888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98464" y="2724912"/>
            <a:ext cx="548640" cy="548640"/>
          </a:xfrm>
          <a:prstGeom prst="ellipse">
            <a:avLst/>
          </a:prstGeom>
          <a:solidFill>
            <a:srgbClr val="E8B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98464" y="2852928"/>
            <a:ext cx="54864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3520440"/>
            <a:ext cx="1673352" cy="71323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000" b="1">
                <a:solidFill>
                  <a:srgbClr val="212B3C"/>
                </a:solidFill>
                <a:latin typeface="Aptos"/>
              </a:rPr>
              <a:t>Review valuation and loan-to-value terms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98664" y="246888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2752" y="2724912"/>
            <a:ext cx="548640" cy="548640"/>
          </a:xfrm>
          <a:prstGeom prst="ellipse">
            <a:avLst/>
          </a:prstGeom>
          <a:solidFill>
            <a:srgbClr val="E8B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2852928"/>
            <a:ext cx="54864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3520440"/>
            <a:ext cx="1673352" cy="71323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000" b="1">
                <a:solidFill>
                  <a:srgbClr val="212B3C"/>
                </a:solidFill>
                <a:latin typeface="Aptos"/>
              </a:rPr>
              <a:t>Understand interest and repayment options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02952" y="246888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7040" y="2724912"/>
            <a:ext cx="548640" cy="548640"/>
          </a:xfrm>
          <a:prstGeom prst="ellipse">
            <a:avLst/>
          </a:prstGeom>
          <a:solidFill>
            <a:srgbClr val="E8B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0" y="2852928"/>
            <a:ext cx="54864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49256" y="3520440"/>
            <a:ext cx="1673352" cy="71323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000" b="1">
                <a:solidFill>
                  <a:srgbClr val="212B3C"/>
                </a:solidFill>
                <a:latin typeface="Aptos"/>
              </a:rPr>
              <a:t>Repay as agreed and follow release procedure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16636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300" b="0">
                <a:solidFill>
                  <a:srgbClr val="65748B"/>
                </a:solidFill>
                <a:latin typeface="Aptos"/>
              </a:rPr>
              <a:t>Approval is subject to lender assessment, verification and applicable policy.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800" b="1">
                <a:solidFill>
                  <a:srgbClr val="65748B"/>
                </a:solidFill>
                <a:latin typeface="Aptos"/>
              </a:rPr>
              <a:t>F2FINTECH  |  SAMPLE PRESENTATION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r"/>
            <a:r>
              <a:rPr sz="900" b="1">
                <a:solidFill>
                  <a:srgbClr val="E8B538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804672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000" b="1">
                <a:solidFill>
                  <a:srgbClr val="E8B538"/>
                </a:solidFill>
                <a:latin typeface="Aptos"/>
              </a:rPr>
              <a:t>PREPARATION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789920" cy="56692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2900" b="1">
                <a:solidFill>
                  <a:srgbClr val="0D1B36"/>
                </a:solidFill>
                <a:latin typeface="Aptos"/>
              </a:rPr>
              <a:t>Documents applicants may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515600" cy="43891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300" b="0">
                <a:solidFill>
                  <a:srgbClr val="65748B"/>
                </a:solidFill>
                <a:latin typeface="Aptos"/>
              </a:rPr>
              <a:t>The final checklist is set by the lender and the applicant's profile.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5120640" cy="32461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12B3C"/>
                </a:solidFill>
                <a:latin typeface="Aptos"/>
              </a:defRPr>
            </a:pPr>
            <a:r>
              <a:t>•  PAN and identity/address proof</a:t>
            </a:r>
          </a:p>
          <a:p>
            <a:pPr>
              <a:spcAft>
                <a:spcPts val="1500"/>
              </a:spcAft>
              <a:defRPr sz="1600">
                <a:solidFill>
                  <a:srgbClr val="212B3C"/>
                </a:solidFill>
                <a:latin typeface="Aptos"/>
              </a:defRPr>
            </a:pPr>
            <a:r>
              <a:t>•  Gold jewellery for appraisal</a:t>
            </a:r>
          </a:p>
          <a:p>
            <a:pPr>
              <a:spcAft>
                <a:spcPts val="1500"/>
              </a:spcAft>
              <a:defRPr sz="1600">
                <a:solidFill>
                  <a:srgbClr val="212B3C"/>
                </a:solidFill>
                <a:latin typeface="Aptos"/>
              </a:defRPr>
            </a:pPr>
            <a:r>
              <a:t>•  Ownership declaration or records if requested</a:t>
            </a:r>
          </a:p>
          <a:p>
            <a:pPr>
              <a:spcAft>
                <a:spcPts val="1500"/>
              </a:spcAft>
              <a:defRPr sz="1600">
                <a:solidFill>
                  <a:srgbClr val="212B3C"/>
                </a:solidFill>
                <a:latin typeface="Aptos"/>
              </a:defRPr>
            </a:pPr>
            <a:r>
              <a:t>•  Other lender-required documents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148840"/>
            <a:ext cx="45720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313432"/>
            <a:ext cx="4206240" cy="310896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400" b="1">
                <a:solidFill>
                  <a:srgbClr val="E8B538"/>
                </a:solidFill>
                <a:latin typeface="Aptos"/>
              </a:rPr>
              <a:t>BEFORE YOU APPLY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715768"/>
            <a:ext cx="4206240" cy="1645919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100" b="0">
                <a:solidFill>
                  <a:srgbClr val="212B3C"/>
                </a:solidFill>
                <a:latin typeface="Aptos"/>
              </a:rPr>
              <a:t>Keep information accurate and up to date. Submit documents only through official, secure channels.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4800600"/>
            <a:ext cx="4297680" cy="6400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300" b="1">
                <a:solidFill>
                  <a:srgbClr val="0D1B36"/>
                </a:solidFill>
                <a:latin typeface="Aptos"/>
              </a:rPr>
              <a:t>Do not share OTPs, passwords or banking PINs with anyone.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800" b="1">
                <a:solidFill>
                  <a:srgbClr val="65748B"/>
                </a:solidFill>
                <a:latin typeface="Aptos"/>
              </a:rPr>
              <a:t>F2FINTECH  |  SAMPLE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r"/>
            <a:r>
              <a:rPr sz="900" b="1">
                <a:solidFill>
                  <a:srgbClr val="E8B538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804672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000" b="1">
                <a:solidFill>
                  <a:srgbClr val="E8B538"/>
                </a:solidFill>
                <a:latin typeface="Aptos"/>
              </a:rPr>
              <a:t>MAKE AN INFORMED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789920" cy="56692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2900" b="1">
                <a:solidFill>
                  <a:srgbClr val="0D1B36"/>
                </a:solidFill>
                <a:latin typeface="Aptos"/>
              </a:rPr>
              <a:t>Compare the full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515600" cy="43891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300" b="0">
                <a:solidFill>
                  <a:srgbClr val="65748B"/>
                </a:solidFill>
                <a:latin typeface="Aptos"/>
              </a:rPr>
              <a:t>Do not choose a loan on interest rate alone.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2120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67712"/>
            <a:ext cx="4846320" cy="310896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400" b="1">
                <a:solidFill>
                  <a:srgbClr val="E8B538"/>
                </a:solidFill>
                <a:latin typeface="Aptos"/>
              </a:rPr>
              <a:t>CHECK THESE TERMS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70048"/>
            <a:ext cx="4846320" cy="17373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100" b="0">
                <a:solidFill>
                  <a:srgbClr val="212B3C"/>
                </a:solidFill>
                <a:latin typeface="Aptos"/>
              </a:rPr>
              <a:t>• Gold valuation and eligible purity
• Loan-to-value ratio
• Interest, fees and renewal charges
• Default rules and gold-release process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52120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67712"/>
            <a:ext cx="4846320" cy="310896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400" b="1">
                <a:solidFill>
                  <a:srgbClr val="E8B538"/>
                </a:solidFill>
                <a:latin typeface="Aptos"/>
              </a:rPr>
              <a:t>BORROW RESPONSIBLY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70048"/>
            <a:ext cx="4846320" cy="17373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100" b="0">
                <a:solidFill>
                  <a:srgbClr val="212B3C"/>
                </a:solidFill>
                <a:latin typeface="Aptos"/>
              </a:rPr>
              <a:t>Understand the consequences of missed payments before pledging gold.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2578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F2Fintech sample presentation • Availability, eligibility, rates, fees and approval are determined by the relevant lender.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800" b="1">
                <a:solidFill>
                  <a:srgbClr val="65748B"/>
                </a:solidFill>
                <a:latin typeface="Aptos"/>
              </a:rPr>
              <a:t>F2FINTECH  |  SAMPLE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r"/>
            <a:r>
              <a:rPr sz="900" b="1">
                <a:solidFill>
                  <a:srgbClr val="E8B538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