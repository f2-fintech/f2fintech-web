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097280"/>
            <a:ext cx="2834640" cy="2834640"/>
          </a:xfrm>
          <a:prstGeom prst="ellipse">
            <a:avLst/>
          </a:prstGeom>
          <a:noFill/>
          <a:ln w="19050">
            <a:solidFill>
              <a:srgbClr val="2B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59368" y="1298448"/>
            <a:ext cx="2240280" cy="2240280"/>
          </a:xfrm>
          <a:prstGeom prst="ellipse">
            <a:avLst/>
          </a:prstGeom>
          <a:noFill/>
          <a:ln w="19050">
            <a:solidFill>
              <a:srgbClr val="2B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0536" y="1499616"/>
            <a:ext cx="1645920" cy="1645920"/>
          </a:xfrm>
          <a:prstGeom prst="ellipse">
            <a:avLst/>
          </a:prstGeom>
          <a:noFill/>
          <a:ln w="19050">
            <a:solidFill>
              <a:srgbClr val="2B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41148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E8B538"/>
                </a:solidFill>
                <a:latin typeface="Aptos"/>
              </a:rPr>
              <a:t>F2FINTECH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5029200" cy="2560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PERSONAL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6858000" cy="9601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Personal Loan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621792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800" b="0">
                <a:solidFill>
                  <a:srgbClr val="DCE5F5"/>
                </a:solidFill>
                <a:latin typeface="Aptos"/>
              </a:rPr>
              <a:t>Flexible finance for life's important moments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20640"/>
            <a:ext cx="59436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LOAN OVERVIEW  •  SAMPLE /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72200"/>
            <a:ext cx="1042416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900" b="0">
                <a:solidFill>
                  <a:srgbClr val="BECADE"/>
                </a:solidFill>
                <a:latin typeface="Aptos"/>
              </a:rPr>
              <a:t>Illustrative information only. Eligibility and terms depend on the lender.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PERSONAL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Introducing Personal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Flexible finance for life's important moments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WHO IT MAY SUIT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Salaried professionals and eligible self-employed applicants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COMMON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Planned expenses, unexpected costs, travel, education or major purchases.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Compare options carefully and choose a repayment plan that suits your circumstances.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700" b="1">
                <a:solidFill>
                  <a:srgbClr val="0D1B36"/>
                </a:solidFill>
                <a:latin typeface="Aptos"/>
              </a:rPr>
              <a:t>A clear overview to help applicants understand the journey before they apply.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What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Product features and availability depend on the participating lender.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03704"/>
            <a:ext cx="457200" cy="45720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Flexible use of funds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2968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319272"/>
            <a:ext cx="457200" cy="45720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55848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Digital-first application journey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88536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17136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71416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Options from participating lending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Aptos"/>
              </a:rPr>
              <a:t>Always review the applicable lender disclosures before accepting an offer.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APPLICATION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From enquiry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 typical flow; exact steps vary by lender and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Check basic eligibility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4176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Share application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4376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98464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Complete lender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Review the lender's offer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0" y="2724912"/>
            <a:ext cx="548640" cy="548640"/>
          </a:xfrm>
          <a:prstGeom prst="ellipse">
            <a:avLst/>
          </a:prstGeom>
          <a:solidFill>
            <a:srgbClr val="2B5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Accept only if suitable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Approval is subject to lender assessment, verification and applicable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PREPARATION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Documents applicants may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The final checklist is set by the lender and the applicant's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120640" cy="3246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PAN and identity proof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Address proof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Income proof / salary slips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Bank statements (if requested)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572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13432"/>
            <a:ext cx="420624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BEFORE YOU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15768"/>
            <a:ext cx="4206240" cy="164591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Keep information accurate and up to date. Submit documents only through official, secure channels.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00600"/>
            <a:ext cx="429768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1">
                <a:solidFill>
                  <a:srgbClr val="0D1B36"/>
                </a:solidFill>
                <a:latin typeface="Aptos"/>
              </a:rPr>
              <a:t>Do not share OTPs, passwords or banking PINs with anyone.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2B53BE"/>
                </a:solidFill>
                <a:latin typeface="Aptos"/>
              </a:rPr>
              <a:t>MAKE AN INFORMED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Compare the full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Do not choose a loan on interest rate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CHECK THESE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• Interest rate and APR
• Processing fees and other charges
• Repayment tenure and EMI
• Late-payment and foreclosure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2B53BE"/>
                </a:solidFill>
                <a:latin typeface="Aptos"/>
              </a:rPr>
              <a:t>BORROW RESPONSIBLY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Choose a repayment amount that fits comfortably within your monthly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F2Fintech sample presentation • Availability, eligibility, rates, fees and approval are determined by the relevant lender.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2B53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